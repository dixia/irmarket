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Alfa Slab One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6.xml"/><Relationship Id="rId22" Type="http://schemas.openxmlformats.org/officeDocument/2006/relationships/font" Target="fonts/AlfaSlabOne-regular.fntdata"/><Relationship Id="rId10" Type="http://schemas.openxmlformats.org/officeDocument/2006/relationships/slide" Target="slides/slide5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bold.fntdata"/><Relationship Id="rId6" Type="http://schemas.openxmlformats.org/officeDocument/2006/relationships/slide" Target="slides/slide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8dc88d6a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38dc88d6a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0ceccadc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0ceccadc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Chainlink is controlled by 20+ entries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is time-delayed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is upload but not verified.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40ceccadc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40ceccad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Permissless no need oracle token not need have server or it team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have two type users price 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provider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</a:t>
            </a: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price... the skin-in-the-game not only to the oracle token but also the asset the price is pricing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but have incentive and with the price they are providing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Verifier have incentive to correct price</a:t>
            </a:r>
            <a:endParaRPr sz="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0ceccadc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40ceccadc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40ceccadc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40ceccadc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14badf81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14badf81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 add deposit asset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414badf8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414badf8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0fee006f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40fee006f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8dc88d6a3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38dc88d6a3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bit </a:t>
            </a:r>
            <a:r>
              <a:rPr lang="en"/>
              <a:t>technical</a:t>
            </a:r>
            <a:r>
              <a:rPr lang="en"/>
              <a:t> content, architect content here Solana has almost </a:t>
            </a:r>
            <a:r>
              <a:rPr lang="en"/>
              <a:t>deterministic</a:t>
            </a:r>
            <a:r>
              <a:rPr lang="en"/>
              <a:t> finality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how does it work?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63a14e03b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63a14e03b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0ceccad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140ceccad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836EF9"/>
                </a:solidFill>
              </a:rPr>
              <a:t>Monoracle</a:t>
            </a:r>
            <a:endParaRPr sz="6000">
              <a:solidFill>
                <a:srgbClr val="836EF9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</a:t>
            </a:r>
            <a:r>
              <a:rPr lang="en" sz="2600"/>
              <a:t>ully decentralised on-chain Oracle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based on game theory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22">
                <a:solidFill>
                  <a:srgbClr val="836EF9"/>
                </a:solidFill>
              </a:rPr>
              <a:t>M</a:t>
            </a:r>
            <a:r>
              <a:rPr lang="en" sz="4222">
                <a:solidFill>
                  <a:srgbClr val="836EF9"/>
                </a:solidFill>
              </a:rPr>
              <a:t>onoracle</a:t>
            </a:r>
            <a:endParaRPr sz="1222">
              <a:solidFill>
                <a:srgbClr val="836E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/>
              <a:t>A decentralized price Oracle. </a:t>
            </a:r>
            <a:endParaRPr sz="2700"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040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 </a:t>
            </a:r>
            <a:endParaRPr sz="3300"/>
          </a:p>
          <a:p>
            <a:pPr indent="-438150" lvl="0" marL="457200" rtl="0" algn="l">
              <a:spcBef>
                <a:spcPts val="1200"/>
              </a:spcBef>
              <a:spcAft>
                <a:spcPts val="0"/>
              </a:spcAft>
              <a:buSzPts val="3300"/>
              <a:buChar char="●"/>
            </a:pPr>
            <a:r>
              <a:rPr b="1" lang="en" sz="3300"/>
              <a:t>Permissionless game theory drive</a:t>
            </a:r>
            <a:endParaRPr b="1"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b="1" lang="en" sz="3300"/>
              <a:t>Verified </a:t>
            </a:r>
            <a:r>
              <a:rPr lang="en" sz="3300"/>
              <a:t>on-chain</a:t>
            </a:r>
            <a:r>
              <a:rPr b="1" lang="en" sz="3300"/>
              <a:t> and Agentic native</a:t>
            </a:r>
            <a:endParaRPr b="1" sz="3300"/>
          </a:p>
          <a:p>
            <a:pPr indent="-438150" lvl="0" marL="457200" rtl="0" algn="l">
              <a:spcBef>
                <a:spcPts val="0"/>
              </a:spcBef>
              <a:spcAft>
                <a:spcPts val="0"/>
              </a:spcAft>
              <a:buSzPts val="3300"/>
              <a:buChar char="●"/>
            </a:pPr>
            <a:r>
              <a:rPr lang="en" sz="3300"/>
              <a:t>M</a:t>
            </a:r>
            <a:r>
              <a:rPr lang="en" sz="3300"/>
              <a:t>ore </a:t>
            </a:r>
            <a:r>
              <a:rPr b="1" lang="en" sz="3300"/>
              <a:t>secure </a:t>
            </a:r>
            <a:r>
              <a:rPr lang="en" sz="3300"/>
              <a:t>price oracle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14050" y="678750"/>
            <a:ext cx="8156100" cy="435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Centralised therefore vulnerable 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Price is heavily delayed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" sz="3600"/>
              <a:t>Essentially it is just data uploading without </a:t>
            </a:r>
            <a:r>
              <a:rPr i="1" lang="en" sz="3600"/>
              <a:t>verification</a:t>
            </a:r>
            <a:endParaRPr i="1" sz="6000"/>
          </a:p>
        </p:txBody>
      </p:sp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40"/>
              <a:t>Current Design</a:t>
            </a:r>
            <a:endParaRPr sz="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581025" y="242455"/>
            <a:ext cx="8334300" cy="421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Price market tested with skin-in-the-game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On chain settle, dual asset stake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Char char="●"/>
            </a:pPr>
            <a:r>
              <a:rPr lang="en" sz="4000"/>
              <a:t>AI Agent friendly</a:t>
            </a:r>
            <a:endParaRPr sz="4000"/>
          </a:p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76250" y="390525"/>
            <a:ext cx="8508600" cy="77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40"/>
              <a:t>Monoracle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652850" y="1366425"/>
            <a:ext cx="8314500" cy="26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en" sz="3700"/>
              <a:t>Quote</a:t>
            </a:r>
            <a:r>
              <a:rPr lang="en" sz="3700"/>
              <a:t> a price</a:t>
            </a:r>
            <a:endParaRPr sz="3700"/>
          </a:p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SzPts val="3700"/>
              <a:buChar char="●"/>
            </a:pPr>
            <a:r>
              <a:rPr lang="en" sz="3700"/>
              <a:t>Also staking assets</a:t>
            </a:r>
            <a:endParaRPr sz="3700"/>
          </a:p>
          <a:p>
            <a:pPr indent="-463550" lvl="1" marL="914400" rtl="0" algn="l">
              <a:spcBef>
                <a:spcPts val="0"/>
              </a:spcBef>
              <a:spcAft>
                <a:spcPts val="0"/>
              </a:spcAft>
              <a:buSzPts val="3700"/>
              <a:buChar char="○"/>
            </a:pPr>
            <a:r>
              <a:rPr lang="en" sz="3700"/>
              <a:t>Good price, take rewards</a:t>
            </a:r>
            <a:endParaRPr sz="3700"/>
          </a:p>
          <a:p>
            <a:pPr indent="-463550" lvl="1" marL="914400" rtl="0" algn="l">
              <a:spcBef>
                <a:spcPts val="0"/>
              </a:spcBef>
              <a:spcAft>
                <a:spcPts val="0"/>
              </a:spcAft>
              <a:buSzPts val="3700"/>
              <a:buChar char="○"/>
            </a:pPr>
            <a:r>
              <a:rPr lang="en" sz="3700"/>
              <a:t>mispriced</a:t>
            </a:r>
            <a:r>
              <a:rPr lang="en" sz="3700"/>
              <a:t> got punished</a:t>
            </a:r>
            <a:endParaRPr sz="3700"/>
          </a:p>
        </p:txBody>
      </p:sp>
      <p:sp>
        <p:nvSpPr>
          <p:cNvPr id="82" name="Google Shape;82;p17"/>
          <p:cNvSpPr txBox="1"/>
          <p:nvPr/>
        </p:nvSpPr>
        <p:spPr>
          <a:xfrm>
            <a:off x="152400" y="457200"/>
            <a:ext cx="5406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Price Provider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526473" y="890186"/>
            <a:ext cx="8334300" cy="284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Verifying prices</a:t>
            </a:r>
            <a:endParaRPr sz="3600"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○"/>
            </a:pPr>
            <a:r>
              <a:rPr lang="en" sz="3600"/>
              <a:t>Good price, do nothing</a:t>
            </a:r>
            <a:endParaRPr sz="3600"/>
          </a:p>
          <a:p>
            <a:pPr indent="-457200" lvl="1" marL="914400" rtl="0" algn="l">
              <a:spcBef>
                <a:spcPts val="0"/>
              </a:spcBef>
              <a:spcAft>
                <a:spcPts val="0"/>
              </a:spcAft>
              <a:buSzPts val="3600"/>
              <a:buChar char="○"/>
            </a:pPr>
            <a:r>
              <a:rPr lang="en" sz="3600"/>
              <a:t>Bad price, veto, arb ( and profit!)</a:t>
            </a:r>
            <a:endParaRPr sz="3600"/>
          </a:p>
        </p:txBody>
      </p:sp>
      <p:sp>
        <p:nvSpPr>
          <p:cNvPr id="88" name="Google Shape;88;p18"/>
          <p:cNvSpPr txBox="1"/>
          <p:nvPr/>
        </p:nvSpPr>
        <p:spPr>
          <a:xfrm>
            <a:off x="457200" y="457200"/>
            <a:ext cx="540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Verifier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2262450" y="180975"/>
            <a:ext cx="4619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 Price </a:t>
            </a: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quotation</a:t>
            </a: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 Flow</a:t>
            </a:r>
            <a:endParaRPr sz="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2958450" y="166000"/>
            <a:ext cx="322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Misprice Flow</a:t>
            </a:r>
            <a:endParaRPr sz="600"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025" y="873100"/>
            <a:ext cx="8068499" cy="370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2842500" y="104775"/>
            <a:ext cx="345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Misp</a:t>
            </a:r>
            <a:r>
              <a:rPr lang="en" sz="3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rice Flow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38" y="828525"/>
            <a:ext cx="8170335" cy="3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840">
                <a:solidFill>
                  <a:srgbClr val="836EF9"/>
                </a:solidFill>
              </a:rPr>
              <a:t>Why built on Monads</a:t>
            </a:r>
            <a:endParaRPr sz="700">
              <a:solidFill>
                <a:srgbClr val="836EF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700">
              <a:solidFill>
                <a:srgbClr val="836EF9"/>
              </a:solidFill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457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5745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82"/>
              <a:t>Faster finality</a:t>
            </a:r>
            <a:endParaRPr sz="7782"/>
          </a:p>
          <a:p>
            <a:pPr indent="-5745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82"/>
              <a:t>Low gas fee</a:t>
            </a:r>
            <a:endParaRPr sz="7782"/>
          </a:p>
          <a:p>
            <a:pPr indent="-57450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82"/>
              <a:t>Async/parallel/anti-MEV culture</a:t>
            </a:r>
            <a:endParaRPr sz="7782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457200" y="457200"/>
            <a:ext cx="540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Demo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2415900" y="526350"/>
            <a:ext cx="4975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